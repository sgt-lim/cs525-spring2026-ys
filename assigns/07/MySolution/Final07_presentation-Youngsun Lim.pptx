
<file path=[Content_Types].xml><?xml version="1.0" encoding="utf-8"?>
<Types xmlns="http://schemas.openxmlformats.org/package/2006/content-types"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2192"/>
  </p:normalViewPr>
  <p:slideViewPr>
    <p:cSldViewPr snapToGrid="0" snapToObjects="1">
      <p:cViewPr varScale="1">
        <p:scale>
          <a:sx n="138" d="100"/>
          <a:sy n="138" d="100"/>
        </p:scale>
        <p:origin x="14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9870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4.m4a"/><Relationship Id="rId1" Type="http://schemas.microsoft.com/office/2007/relationships/media" Target="../media/media14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400" dirty="0">
                <a:solidFill>
                  <a:srgbClr val="F7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CS525 · Spring 2026 · Final Project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→ JavaScript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423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7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compiler with type inference and closure conversion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3246120"/>
            <a:ext cx="1463040" cy="36576"/>
          </a:xfrm>
          <a:prstGeom prst="rect">
            <a:avLst/>
          </a:prstGeom>
          <a:solidFill>
            <a:srgbClr val="B83A4B"/>
          </a:solidFill>
          <a:ln w="12700">
            <a:solidFill>
              <a:srgbClr val="B83A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3429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language </a:t>
            </a:r>
            <a:r>
              <a:rPr lang="en-US" sz="1300" dirty="0">
                <a:solidFill>
                  <a:srgbClr val="F7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  ·   </a:t>
            </a:r>
            <a:r>
              <a:rPr lang="en-US" sz="1300" b="1" dirty="0">
                <a:solidFill>
                  <a:srgbClr val="F7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</a:t>
            </a:r>
            <a:r>
              <a:rPr lang="en-US" sz="1300" dirty="0">
                <a:solidFill>
                  <a:srgbClr val="F7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  ·   </a:t>
            </a:r>
            <a:r>
              <a:rPr lang="en-US" sz="1300" b="1" dirty="0">
                <a:solidFill>
                  <a:srgbClr val="F7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</a:t>
            </a:r>
            <a:r>
              <a:rPr lang="en-US" sz="1300" dirty="0">
                <a:solidFill>
                  <a:srgbClr val="F7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(Node.js)</a:t>
            </a:r>
            <a:endParaRPr lang="en-US" sz="130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3F24A154-1649-DB65-CB2C-8A510CD566D5}"/>
              </a:ext>
            </a:extLst>
          </p:cNvPr>
          <p:cNvSpPr/>
          <p:nvPr/>
        </p:nvSpPr>
        <p:spPr>
          <a:xfrm>
            <a:off x="640080" y="3977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7E8EA"/>
                </a:solidFill>
                <a:latin typeface="Calibri" pitchFamily="34" charset="0"/>
                <a:cs typeface="Calibri" pitchFamily="34" charset="-120"/>
              </a:rPr>
              <a:t>Youngsun Lim (</a:t>
            </a:r>
            <a:r>
              <a:rPr lang="en-US" sz="2200" dirty="0" err="1">
                <a:solidFill>
                  <a:srgbClr val="F7E8EA"/>
                </a:solidFill>
                <a:latin typeface="Calibri" pitchFamily="34" charset="0"/>
                <a:cs typeface="Calibri" pitchFamily="34" charset="-120"/>
              </a:rPr>
              <a:t>youngsun@bu.edu</a:t>
            </a:r>
            <a:r>
              <a:rPr lang="en-US" sz="2200" dirty="0">
                <a:solidFill>
                  <a:srgbClr val="F7E8EA"/>
                </a:solidFill>
                <a:latin typeface="Calibri" pitchFamily="34" charset="0"/>
                <a:cs typeface="Calibri" pitchFamily="34" charset="-120"/>
              </a:rPr>
              <a:t>)</a:t>
            </a:r>
            <a:endParaRPr lang="en-US" sz="2200" dirty="0"/>
          </a:p>
        </p:txBody>
      </p:sp>
      <p:pic>
        <p:nvPicPr>
          <p:cNvPr id="13" name="Audio 12">
            <a:extLst>
              <a:ext uri="{FF2B5EF4-FFF2-40B4-BE49-F238E27FC236}">
                <a16:creationId xmlns:a16="http://schemas.microsoft.com/office/drawing/2014/main" id="{67615DB5-C717-5FF4-037E-C492AA37B71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178800" y="41783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2928"/>
    </mc:Choice>
    <mc:Fallback>
      <p:transition spd="slow" advTm="5292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0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Church’s Lambda-Calculus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3566160"/>
          </a:xfrm>
          <a:prstGeom prst="rect">
            <a:avLst/>
          </a:prstGeom>
          <a:solidFill>
            <a:srgbClr val="F7E8EA"/>
          </a:solidFill>
          <a:ln w="12700">
            <a:solidFill>
              <a:srgbClr val="F7E8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73152" cy="3566160"/>
          </a:xfrm>
          <a:prstGeom prst="rect">
            <a:avLst/>
          </a:prstGeom>
          <a:solidFill>
            <a:srgbClr val="8B1F2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0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forms, that’s it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703320" cy="1097280"/>
          </a:xfrm>
          <a:prstGeom prst="rect">
            <a:avLst/>
          </a:prstGeom>
          <a:solidFill>
            <a:srgbClr val="FAF4F5"/>
          </a:solidFill>
          <a:ln w="9525">
            <a:solidFill>
              <a:srgbClr val="F7E8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627632"/>
            <a:ext cx="34290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A0A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::=  x          -- variable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A0A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|  λx. e      -- abstraction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A0A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|  e1 e2      -- application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0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reduction rules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3703320" cy="868680"/>
          </a:xfrm>
          <a:prstGeom prst="rect">
            <a:avLst/>
          </a:prstGeom>
          <a:solidFill>
            <a:srgbClr val="FAF4F5"/>
          </a:solidFill>
          <a:ln w="9525">
            <a:solidFill>
              <a:srgbClr val="F7E8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3273552"/>
            <a:ext cx="34290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A0A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β:  (λx. e) v   →   e[x := v]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A0A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α:  λx. e       ≡   λy. e[x := y]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1051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0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here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0" y="1417320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core of every functional language.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Turing-complete: numbers, booleans, recursion all encodable.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part for a compiler: nested functions referencing variables from enclosing scope.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8B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problem is exactly what closure conversion solves — the centerpiece of this project.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  <p:pic>
        <p:nvPicPr>
          <p:cNvPr id="43" name="Audio 42">
            <a:extLst>
              <a:ext uri="{FF2B5EF4-FFF2-40B4-BE49-F238E27FC236}">
                <a16:creationId xmlns:a16="http://schemas.microsoft.com/office/drawing/2014/main" id="{43047DC6-919A-E294-C27D-7022DD099F4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178800" y="41783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2560"/>
    </mc:Choice>
    <mc:Fallback>
      <p:transition spd="slow" advTm="825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3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0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 Language — Types  (styp)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2962656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Constructor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F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F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STbas(name)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type: int / bool / string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STxyz(ref opt)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existential metavariable used during inference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STtup(T1, T2)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product T1 * T2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STfun(T1, T2)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 type T1 → T2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STlazy(T)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suspended computation of type 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STlist(T)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of 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STarry(T)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mutable array of 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STstcn(T)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(possibly infinite) stream of 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Text 1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8B1F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STxyz</a:t>
            </a:r>
            <a:r>
              <a:rPr lang="en-US" sz="1200" i="1" dirty="0">
                <a:solidFill>
                  <a:srgbClr val="6B5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workhorse of inference: each occurrence is a fresh “type unknown” with a mutable cell, filled in by unification.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  <p:pic>
        <p:nvPicPr>
          <p:cNvPr id="38" name="Audio 37">
            <a:extLst>
              <a:ext uri="{FF2B5EF4-FFF2-40B4-BE49-F238E27FC236}">
                <a16:creationId xmlns:a16="http://schemas.microsoft.com/office/drawing/2014/main" id="{E949AB56-5EFA-C339-51C4-DD6FE3E18CF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178800" y="41783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2180"/>
    </mc:Choice>
    <mc:Fallback>
      <p:transition spd="slow" advTm="8218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8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0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 Language — Terms  (dexp)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412480" cy="310896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Term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F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Typing rule (sketch)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F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F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DEvar(x)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Γ(x) = T  ⇒  : 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 lookup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DElam(x, e)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Γ, x:α ⊢ e:β  ⇒  : α→β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 (param type fresh)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DElam1(x, T, e)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Γ, x:T ⊢ e:β  ⇒  : T→β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 (annotated)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DEapp(f, a)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f:α→β,  a:α  ⇒  : 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DEfix(f, x, e)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f:α→β, x:α ⊢ e:β  ⇒  : α→β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recursive function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DElet(x, d, s)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d:T,  Γ,x:T ⊢ s:U  ⇒  : 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binding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DElazy(e)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e:T  ⇒  : lazy 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suspension; forced via lazy_force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DEstcn_cons(h,t)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h:T, t:lazy(stcn T)  ⇒  : stcn 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 cons (lazy tail)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DEarry_size$fun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n:int, f:int→T  ⇒  : array 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f(0), f(1), … , f(n-1) 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5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(showing 9 representative term forms; full table in REPORT §2.2)</a:t>
            </a:r>
            <a:endParaRPr lang="en-US" sz="1000" dirty="0"/>
          </a:p>
        </p:txBody>
      </p:sp>
      <p:sp>
        <p:nvSpPr>
          <p:cNvPr id="3" name="Text 2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  <p:pic>
        <p:nvPicPr>
          <p:cNvPr id="22" name="Audio 21">
            <a:extLst>
              <a:ext uri="{FF2B5EF4-FFF2-40B4-BE49-F238E27FC236}">
                <a16:creationId xmlns:a16="http://schemas.microsoft.com/office/drawing/2014/main" id="{AA4B1C76-FB41-EC58-41E4-5F915B65A19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178800" y="41783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8642"/>
    </mc:Choice>
    <mc:Fallback>
      <p:transition spd="slow" advTm="9864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0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Inference — The Four Pillars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1691640"/>
          </a:xfrm>
          <a:prstGeom prst="rect">
            <a:avLst/>
          </a:prstGeom>
          <a:solidFill>
            <a:srgbClr val="FFFFFF"/>
          </a:solidFill>
          <a:ln w="15875">
            <a:solidFill>
              <a:srgbClr val="F7E8EA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73152" cy="1691640"/>
          </a:xfrm>
          <a:prstGeom prst="rect">
            <a:avLst/>
          </a:prstGeom>
          <a:solidFill>
            <a:srgbClr val="B83A4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1155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1F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styp_new()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55448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a fresh existential metavariable (an unsolved STxyz).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023360" cy="1691640"/>
          </a:xfrm>
          <a:prstGeom prst="rect">
            <a:avLst/>
          </a:prstGeom>
          <a:solidFill>
            <a:srgbClr val="FFFFFF"/>
          </a:solidFill>
          <a:ln w="15875">
            <a:solidFill>
              <a:srgbClr val="F7E8EA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73152" cy="1691640"/>
          </a:xfrm>
          <a:prstGeom prst="rect">
            <a:avLst/>
          </a:prstGeom>
          <a:solidFill>
            <a:srgbClr val="B83A4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92040" y="11155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1F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prune(t)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92040" y="155448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STxyz → ... chains until a non-STxyz or unsolved variable is reached. Compresses paths.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4023360" cy="1691640"/>
          </a:xfrm>
          <a:prstGeom prst="rect">
            <a:avLst/>
          </a:prstGeom>
          <a:solidFill>
            <a:srgbClr val="FFFFFF"/>
          </a:solidFill>
          <a:ln w="15875">
            <a:solidFill>
              <a:srgbClr val="F7E8EA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73152" cy="1691640"/>
          </a:xfrm>
          <a:prstGeom prst="rect">
            <a:avLst/>
          </a:prstGeom>
          <a:solidFill>
            <a:srgbClr val="B83A4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29443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1F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occurs(α, T)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338328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α appear inside T? Prevents constructing infinite types like α = list α.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663440" y="2834640"/>
            <a:ext cx="4023360" cy="1691640"/>
          </a:xfrm>
          <a:prstGeom prst="rect">
            <a:avLst/>
          </a:prstGeom>
          <a:solidFill>
            <a:srgbClr val="FFFFFF"/>
          </a:solidFill>
          <a:ln w="15875">
            <a:solidFill>
              <a:srgbClr val="F7E8EA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63440" y="2834640"/>
            <a:ext cx="73152" cy="1691640"/>
          </a:xfrm>
          <a:prstGeom prst="rect">
            <a:avLst/>
          </a:prstGeom>
          <a:solidFill>
            <a:srgbClr val="B83A4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92040" y="29443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1F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unify(T1, T2)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92040" y="338328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two types equal: resolve an unsolved STxyz, or recurse structurally. Raises on a mismatch.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0E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dexp_tinfer(de) = prune(dexp_tinfer1(de, ∅))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  <p:pic>
        <p:nvPicPr>
          <p:cNvPr id="39" name="Audio 38">
            <a:extLst>
              <a:ext uri="{FF2B5EF4-FFF2-40B4-BE49-F238E27FC236}">
                <a16:creationId xmlns:a16="http://schemas.microsoft.com/office/drawing/2014/main" id="{CB89747F-B731-90D4-3FF1-711485A52A1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178800" y="41783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7669"/>
    </mc:Choice>
    <mc:Fallback>
      <p:transition spd="slow" advTm="9766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9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0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Inference — Application, by Example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0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Inferring  DEapp(f, a)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114800" cy="1783080"/>
          </a:xfrm>
          <a:prstGeom prst="rect">
            <a:avLst/>
          </a:prstGeom>
          <a:solidFill>
            <a:srgbClr val="FAF4F5"/>
          </a:solidFill>
          <a:ln w="9525">
            <a:solidFill>
              <a:srgbClr val="F7E8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3840480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A0A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T_f, T_a, fresh α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A0A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st1 = tinfer(f, ctx)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A0A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st2 = tinfer(a, ctx)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A0A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st3 = styp_new()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A0A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T_f must be  T_a → α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A0A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unify(st1, styp_fun(st2, st3))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A0A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st3   # : α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0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Inferring  DEfix(f, x, body)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474720"/>
            <a:ext cx="4114800" cy="1325880"/>
          </a:xfrm>
          <a:prstGeom prst="rect">
            <a:avLst/>
          </a:prstGeom>
          <a:solidFill>
            <a:srgbClr val="FAF4F5"/>
          </a:solidFill>
          <a:ln w="9525">
            <a:solidFill>
              <a:srgbClr val="F7E8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3547872"/>
            <a:ext cx="384048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A0A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st1, st2 = styp_new(), styp_new()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A0A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stf  = styp_fun(st1, st2)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A0A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ctx1 = ctx + (f -&gt; stf)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A0A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ctx2 = ctx1 + (x -&gt; st1)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A0A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stx  = tinfer(body, ctx2)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A0A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unify(st2, stx)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A0A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stf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9601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0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buys us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54880" y="137160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f's name BEFORE checking the body — the body can reference itself, exactly as in real recursion.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fresh α / β starts as an unsolved metavariable; unify resolves them as constraints arrive.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occurs check rejects α = list α, an otherwise infinite type the user would never write deliberately.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/>
              <a:t>Recursive functions reuse the same constraint-based inference mechanism by binding f before checking the body.</a:t>
            </a:r>
          </a:p>
        </p:txBody>
      </p:sp>
      <p:sp>
        <p:nvSpPr>
          <p:cNvPr id="11" name="Text 9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  <p:pic>
        <p:nvPicPr>
          <p:cNvPr id="47" name="Audio 46">
            <a:extLst>
              <a:ext uri="{FF2B5EF4-FFF2-40B4-BE49-F238E27FC236}">
                <a16:creationId xmlns:a16="http://schemas.microsoft.com/office/drawing/2014/main" id="{4F0E5845-A77B-1B74-ECFF-CC1B5A553BC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178800" y="41783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3406"/>
    </mc:Choice>
    <mc:Fallback>
      <p:transition spd="slow" advTm="13340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7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0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Emitter —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5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direct, structural translation — each LAMBDA term maps to a JS expression.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92608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LAMBDA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F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JS (closure-converted)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F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DEint(n)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DEvar(x)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  or   __env__.x  (if captured)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DElam(x, e)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__mkclos(__fnN, { fv1: ..., ... })   [lifted]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DEapp(f, a)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__apply(&lt;f&gt;, &lt;a&gt;)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DEfix(f, x, e)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__mkfix(__fnN, { ... }, "f")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DElet(x, d, s)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desugar to (λx. s) d, then emit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DEif0(t, c, a)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(&lt;t&gt; ? &lt;c&gt; : &lt;a&gt;)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DElazy(e)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__mklazy(__lzN, { ... })   [lifted]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DEarry_size$fun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__arr_from(&lt;n&gt;, &lt;f&gt;)   (top-level helper)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top-level runtime helpers + the lifted user functions — zero anonymous, zero nested.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  <p:pic>
        <p:nvPicPr>
          <p:cNvPr id="36" name="Audio 35">
            <a:extLst>
              <a:ext uri="{FF2B5EF4-FFF2-40B4-BE49-F238E27FC236}">
                <a16:creationId xmlns:a16="http://schemas.microsoft.com/office/drawing/2014/main" id="{AEF09647-B5BE-AD61-AA0B-687DD5E0E0B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178800" y="41783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5990"/>
    </mc:Choice>
    <mc:Fallback>
      <p:transition spd="slow" advTm="10599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6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0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 Conversion — The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0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translation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1097280"/>
          </a:xfrm>
          <a:prstGeom prst="rect">
            <a:avLst/>
          </a:prstGeom>
          <a:solidFill>
            <a:srgbClr val="FAF4F5"/>
          </a:solidFill>
          <a:ln w="9525">
            <a:solidFill>
              <a:srgbClr val="F7E8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399032"/>
            <a:ext cx="3749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2A0A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LAMBDA:  λx. λy. x + y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2A0A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((x) =&gt; ((y) =&gt; x + y))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arrow function </a:t>
            </a:r>
            <a:r>
              <a:rPr lang="en-US" sz="1250" b="1" dirty="0">
                <a:solidFill>
                  <a:srgbClr val="8B1F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(y) =&gt; x + y</a:t>
            </a: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captures x from the enclosing scope.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C, assembly, and our restricted JS target </a:t>
            </a:r>
            <a:r>
              <a:rPr lang="en-US" sz="1250" b="1" dirty="0">
                <a:solidFill>
                  <a:srgbClr val="8B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represent nested functions directly</a:t>
            </a: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931920" cy="3520440"/>
          </a:xfrm>
          <a:prstGeom prst="rect">
            <a:avLst/>
          </a:prstGeom>
          <a:solidFill>
            <a:srgbClr val="F7E8E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73152" cy="3520440"/>
          </a:xfrm>
          <a:prstGeom prst="rect">
            <a:avLst/>
          </a:prstGeom>
          <a:solidFill>
            <a:srgbClr val="8B1F2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0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 each function as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937760" y="1874520"/>
            <a:ext cx="3611880" cy="868680"/>
          </a:xfrm>
          <a:prstGeom prst="rect">
            <a:avLst/>
          </a:prstGeom>
          <a:solidFill>
            <a:srgbClr val="FAF4F5"/>
          </a:solidFill>
          <a:ln w="9525">
            <a:solidFill>
              <a:srgbClr val="F7E8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74920" y="1947672"/>
            <a:ext cx="33375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A0A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code: &lt;top-level fn&gt;,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A0A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env:  { captured vars } }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2834640"/>
            <a:ext cx="36576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Hoist every function to the top level.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captured variables explicitly via __env__.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go through __apply so the call site doesn’t need an inner function either.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  <p:pic>
        <p:nvPicPr>
          <p:cNvPr id="30" name="Audio 29">
            <a:extLst>
              <a:ext uri="{FF2B5EF4-FFF2-40B4-BE49-F238E27FC236}">
                <a16:creationId xmlns:a16="http://schemas.microsoft.com/office/drawing/2014/main" id="{214AFEE3-A413-F41B-E97B-80D1C0CABAE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178800" y="41783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2733"/>
    </mc:Choice>
    <mc:Fallback>
      <p:transition spd="slow" advTm="10273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0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0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 Conversion — The Recipe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0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 λx. body 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502920" cy="502920"/>
          </a:xfrm>
          <a:prstGeom prst="ellipse">
            <a:avLst/>
          </a:prstGeom>
          <a:solidFill>
            <a:srgbClr val="8B1F2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371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0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free vars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965960"/>
            <a:ext cx="2697480" cy="1097280"/>
          </a:xfrm>
          <a:prstGeom prst="rect">
            <a:avLst/>
          </a:prstGeom>
          <a:solidFill>
            <a:srgbClr val="FAF4F5"/>
          </a:solidFill>
          <a:ln w="9525">
            <a:solidFill>
              <a:srgbClr val="F7E8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039112"/>
            <a:ext cx="24231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A0A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FV = freevars(body) − {x}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1325880"/>
            <a:ext cx="502920" cy="502920"/>
          </a:xfrm>
          <a:prstGeom prst="ellipse">
            <a:avLst/>
          </a:prstGeom>
          <a:solidFill>
            <a:srgbClr val="8B1F2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8328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023360" y="1371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0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to top level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91840" y="1965960"/>
            <a:ext cx="2697480" cy="1097280"/>
          </a:xfrm>
          <a:prstGeom prst="rect">
            <a:avLst/>
          </a:prstGeom>
          <a:solidFill>
            <a:srgbClr val="FAF4F5"/>
          </a:solidFill>
          <a:ln w="9525">
            <a:solidFill>
              <a:srgbClr val="F7E8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29000" y="2039112"/>
            <a:ext cx="24231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A0A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__fnN(__env__, x) { return body'; }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A0A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(rewrite v ∈ FV  ⇒  __env__.v)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1325880"/>
            <a:ext cx="502920" cy="502920"/>
          </a:xfrm>
          <a:prstGeom prst="ellipse">
            <a:avLst/>
          </a:prstGeom>
          <a:solidFill>
            <a:srgbClr val="8B1F2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7220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812280" y="1371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0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closure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80760" y="1965960"/>
            <a:ext cx="2697480" cy="1097280"/>
          </a:xfrm>
          <a:prstGeom prst="rect">
            <a:avLst/>
          </a:prstGeom>
          <a:solidFill>
            <a:srgbClr val="FAF4F5"/>
          </a:solidFill>
          <a:ln w="9525">
            <a:solidFill>
              <a:srgbClr val="F7E8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17920" y="2039112"/>
            <a:ext cx="24231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A0A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__mkclos(__fnN,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A0A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{ v1: &lt;v1&gt;,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A0A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v2: &lt;v2&gt;, ... })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solidFill>
            <a:srgbClr val="F7E8E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3383280"/>
            <a:ext cx="73152" cy="1280160"/>
          </a:xfrm>
          <a:prstGeom prst="rect">
            <a:avLst/>
          </a:prstGeom>
          <a:solidFill>
            <a:srgbClr val="B83A4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5800" y="3520440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8B1F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  f a   </a:t>
            </a: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__apply(f, a)   ≡   f.code(f.env, a)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8B1F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Recursive fix f x. body   </a:t>
            </a: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__mkfix sets  c.env["f"] = c   so the body can reach itself via __env__.f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  <p:pic>
        <p:nvPicPr>
          <p:cNvPr id="35" name="Audio 34">
            <a:extLst>
              <a:ext uri="{FF2B5EF4-FFF2-40B4-BE49-F238E27FC236}">
                <a16:creationId xmlns:a16="http://schemas.microsoft.com/office/drawing/2014/main" id="{1CA876D1-44C1-E6E7-58E7-47CDEB8C65E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178800" y="41783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1355"/>
    </mc:Choice>
    <mc:Fallback>
      <p:transition spd="slow" advTm="10135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5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0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 —  λx. λy. λz. (x + y) + z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0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(LAMBDA)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640080"/>
          </a:xfrm>
          <a:prstGeom prst="rect">
            <a:avLst/>
          </a:prstGeom>
          <a:solidFill>
            <a:srgbClr val="FAF4F5"/>
          </a:solidFill>
          <a:ln w="9525">
            <a:solidFill>
              <a:srgbClr val="F7E8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3749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2A0A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λx. λy. λz. (x + y) + z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0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Free-variable analysis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4023360" cy="1280160"/>
          </a:xfrm>
          <a:prstGeom prst="rect">
            <a:avLst/>
          </a:prstGeom>
          <a:solidFill>
            <a:srgbClr val="FAF4F5"/>
          </a:solidFill>
          <a:ln w="9525">
            <a:solidFill>
              <a:srgbClr val="F7E8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2496312"/>
            <a:ext cx="374904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A0A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innermost (λz. (x+y)+z)   FV = {x, y}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A0A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middle    (λy. ...)        FV = {x}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A0A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outer     (λx. ...)        FV = {}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79476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5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y in the inner env is a parameter of __fn1; x is itself captured one level up, so it is read from __env__.x.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914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0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Emitted JS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1280160"/>
            <a:ext cx="3931920" cy="3429000"/>
          </a:xfrm>
          <a:prstGeom prst="rect">
            <a:avLst/>
          </a:prstGeom>
          <a:solidFill>
            <a:srgbClr val="FAF4F5"/>
          </a:solidFill>
          <a:ln w="9525">
            <a:solidFill>
              <a:srgbClr val="F7E8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92040" y="1353312"/>
            <a:ext cx="3657600" cy="3282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A0A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__fn2(__env__, z) {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A0A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((__env__.x + __env__.y) + z);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A0A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A0A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__fn1(__env__, y) {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A0A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__mkclos(__fn2,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A0A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{x: __env__.x, y: y});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A0A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A0A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__fn0(__env__, x) {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A0A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__mkclos(__fn1, {x: x});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A0A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A0A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Main: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A0A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__mkclos(__fn0, {})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  <p:pic>
        <p:nvPicPr>
          <p:cNvPr id="41" name="Audio 40">
            <a:extLst>
              <a:ext uri="{FF2B5EF4-FFF2-40B4-BE49-F238E27FC236}">
                <a16:creationId xmlns:a16="http://schemas.microsoft.com/office/drawing/2014/main" id="{5537000B-17BE-C345-8DA1-C47BC4C32FD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178800" y="41783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3924"/>
    </mc:Choice>
    <mc:Fallback>
      <p:transition spd="slow" advTm="16392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1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0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— the cc function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5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recursive walk over the AST: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3200400"/>
          </a:xfrm>
          <a:prstGeom prst="rect">
            <a:avLst/>
          </a:prstGeom>
          <a:solidFill>
            <a:srgbClr val="FAF4F5"/>
          </a:solidFill>
          <a:ln w="9525">
            <a:solidFill>
              <a:srgbClr val="F7E8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399032"/>
            <a:ext cx="7955280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A0A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cc(de, env_vars, state):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A0A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env_vars : variables that, in the CURRENTLY emitted JS function,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A0A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           must be read from __env__ (i.e. they are free in it).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A0A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state    : accumulator of lifted top-level functions  +  fresh-name counter.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A0A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de.ctag == "DEvar":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A0A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("__env__." + de.arg1) if de.arg1 in env_vars else de.arg1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A0A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de.ctag in ("DElam", "DElam1"):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A0A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x, body = ...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A0A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fvs   = sorted(freevars(de))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A0A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fname = state.fresh("__fn")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A0A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body_js = cc(body, set(fvs), state)        # x is a parameter, NOT in env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A0A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state.lifted.append(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A0A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f"function {fname}(__env__, {x}) {{ return {body_js}; }}")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A0A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f"__mkclos({fname}, {env_obj(fvs, env_vars)})"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A0A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5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env_obj emits  v: v  if v is local in the enclosing JS fn,  v: __env__.v  if v is itself captured one level up. That single rule makes arbitrarily deep nesting Just Work.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  <p:pic>
        <p:nvPicPr>
          <p:cNvPr id="25" name="Audio 24">
            <a:extLst>
              <a:ext uri="{FF2B5EF4-FFF2-40B4-BE49-F238E27FC236}">
                <a16:creationId xmlns:a16="http://schemas.microsoft.com/office/drawing/2014/main" id="{0D019111-5E23-15AF-2CF0-0FE2582F85E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178800" y="41783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784"/>
    </mc:Choice>
    <mc:Fallback>
      <p:transition spd="slow" advTm="11078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0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 — 15 / 15 Passing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743200" cy="3657600"/>
          </a:xfrm>
          <a:prstGeom prst="rect">
            <a:avLst/>
          </a:prstGeom>
          <a:solidFill>
            <a:srgbClr val="3A0E1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7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programs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7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type-check, emit JS,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F7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run under Node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F7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expected value.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0" y="1005840"/>
          <a:ext cx="5212080" cy="3950208"/>
        </p:xfrm>
        <a:graphic>
          <a:graphicData uri="http://schemas.openxmlformats.org/drawingml/2006/table">
            <a:tbl>
              <a:tblPr/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Test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F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F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identity_applied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42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nested_capture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triple_capture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60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35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factorial_6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720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fib_10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sum_list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tuple_fst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twice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closure_in_let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107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lazy_simple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lazy_capture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42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array_size_val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array_size_fun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stream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  <p:pic>
        <p:nvPicPr>
          <p:cNvPr id="14" name="Audio 13">
            <a:extLst>
              <a:ext uri="{FF2B5EF4-FFF2-40B4-BE49-F238E27FC236}">
                <a16:creationId xmlns:a16="http://schemas.microsoft.com/office/drawing/2014/main" id="{1B7BADAA-FBC3-76C3-6261-1B278ABC955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178800" y="41783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9066"/>
    </mc:Choice>
    <mc:Fallback>
      <p:transition spd="slow" advTm="6906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0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— No Inner Functions, Anywhere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697480" cy="2194560"/>
          </a:xfrm>
          <a:prstGeom prst="rect">
            <a:avLst/>
          </a:prstGeom>
          <a:solidFill>
            <a:srgbClr val="FFFFFF"/>
          </a:solidFill>
          <a:ln w="15875">
            <a:solidFill>
              <a:srgbClr val="F7E8EA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2697480" cy="73152"/>
          </a:xfrm>
          <a:prstGeom prst="rect">
            <a:avLst/>
          </a:prstGeom>
          <a:solidFill>
            <a:srgbClr val="B83A4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8B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594360" y="21945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0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functions  =&gt;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6060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5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15 generated JS programs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37560" y="960120"/>
            <a:ext cx="2697480" cy="2194560"/>
          </a:xfrm>
          <a:prstGeom prst="rect">
            <a:avLst/>
          </a:prstGeom>
          <a:solidFill>
            <a:srgbClr val="FFFFFF"/>
          </a:solidFill>
          <a:ln w="15875">
            <a:solidFill>
              <a:srgbClr val="F7E8EA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337560" y="960120"/>
            <a:ext cx="2697480" cy="73152"/>
          </a:xfrm>
          <a:prstGeom prst="rect">
            <a:avLst/>
          </a:prstGeom>
          <a:solidFill>
            <a:srgbClr val="B83A4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37560" y="114300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8B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3474720" y="21945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0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function expressions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26060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5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function is a top-level decl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960120"/>
            <a:ext cx="2697480" cy="2194560"/>
          </a:xfrm>
          <a:prstGeom prst="rect">
            <a:avLst/>
          </a:prstGeom>
          <a:solidFill>
            <a:srgbClr val="FFFFFF"/>
          </a:solidFill>
          <a:ln w="15875">
            <a:solidFill>
              <a:srgbClr val="F7E8EA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217920" y="960120"/>
            <a:ext cx="2697480" cy="73152"/>
          </a:xfrm>
          <a:prstGeom prst="rect">
            <a:avLst/>
          </a:prstGeom>
          <a:solidFill>
            <a:srgbClr val="B83A4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17920" y="114300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8B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6400" dirty="0"/>
          </a:p>
        </p:txBody>
      </p:sp>
      <p:sp>
        <p:nvSpPr>
          <p:cNvPr id="16" name="Text 14"/>
          <p:cNvSpPr/>
          <p:nvPr/>
        </p:nvSpPr>
        <p:spPr>
          <a:xfrm>
            <a:off x="6355080" y="21945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0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helpers (top-level)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55080" y="26060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5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__mkclos, __mkfix, __apply, __mklazy,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i="1" dirty="0">
                <a:solidFill>
                  <a:srgbClr val="6B5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__force, __arr_from, __arr_set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0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  (triple_capture)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703320"/>
            <a:ext cx="8229600" cy="1051560"/>
          </a:xfrm>
          <a:prstGeom prst="rect">
            <a:avLst/>
          </a:prstGeom>
          <a:solidFill>
            <a:srgbClr val="FAF4F5"/>
          </a:solidFill>
          <a:ln w="9525">
            <a:solidFill>
              <a:srgbClr val="F7E8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" y="3776472"/>
            <a:ext cx="795528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A0A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__fn2(__env__, z) { return ((__env__.x + __env__.y) + z); }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A0A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__fn1(__env__, y) { return __mkclos(__fn2, {x: __env__.x, y: y}); }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A0A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__fn0(__env__, x) { return __mkclos(__fn1, {x: x}); }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A0A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__result = __apply(__apply(__apply(__mkclos(__fn0, {}), 10), 20), 30);   // 60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  <p:pic>
        <p:nvPicPr>
          <p:cNvPr id="27" name="Audio 26">
            <a:extLst>
              <a:ext uri="{FF2B5EF4-FFF2-40B4-BE49-F238E27FC236}">
                <a16:creationId xmlns:a16="http://schemas.microsoft.com/office/drawing/2014/main" id="{5ADF1401-ECF0-5569-4BB6-B136C244B5D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178800" y="41783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6436"/>
    </mc:Choice>
    <mc:Fallback>
      <p:transition spd="slow" advTm="6643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7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A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0" y="-457200"/>
            <a:ext cx="3657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0" b="1" dirty="0">
                <a:solidFill>
                  <a:srgbClr val="B83A4B">
                    <a:alpha val="3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λ</a:t>
            </a:r>
            <a:endParaRPr lang="en-US" sz="32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400" dirty="0">
                <a:solidFill>
                  <a:srgbClr val="F7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LAMBDA → JS pipeline.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inference </a:t>
            </a:r>
            <a:r>
              <a:rPr lang="en-US" sz="1400" dirty="0">
                <a:solidFill>
                  <a:srgbClr val="F7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unification, prune, occurs check — covers every dexp constructor.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emitter </a:t>
            </a:r>
            <a:r>
              <a:rPr lang="en-US" sz="1400" dirty="0">
                <a:solidFill>
                  <a:srgbClr val="F7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structural translation; let desugars to (λx. s) d.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 conversion </a:t>
            </a:r>
            <a:r>
              <a:rPr lang="en-US" sz="1400" dirty="0">
                <a:solidFill>
                  <a:srgbClr val="F7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 λ becomes a top-level fn + an environment object — zero inner functions.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</a:t>
            </a:r>
            <a:r>
              <a:rPr lang="en-US" sz="1400" dirty="0">
                <a:solidFill>
                  <a:srgbClr val="F7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15 / 15 LAMBDA programs run under Node to the expected value.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4526280"/>
            <a:ext cx="1463040" cy="36576"/>
          </a:xfrm>
          <a:prstGeom prst="rect">
            <a:avLst/>
          </a:prstGeom>
          <a:solidFill>
            <a:srgbClr val="B83A4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7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</p:txBody>
      </p:sp>
      <p:pic>
        <p:nvPicPr>
          <p:cNvPr id="15" name="Audio 14">
            <a:extLst>
              <a:ext uri="{FF2B5EF4-FFF2-40B4-BE49-F238E27FC236}">
                <a16:creationId xmlns:a16="http://schemas.microsoft.com/office/drawing/2014/main" id="{C4E33C4E-30EA-E823-96E1-D0ACD074EAA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178800" y="41783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5130"/>
    </mc:Choice>
    <mc:Fallback>
      <p:transition spd="slow" advTm="4513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2077</Words>
  <Application>Microsoft Macintosh PowerPoint</Application>
  <PresentationFormat>On-screen Show (16:9)</PresentationFormat>
  <Paragraphs>285</Paragraphs>
  <Slides>14</Slides>
  <Notes>14</Notes>
  <HiddenSlides>0</HiddenSlides>
  <MMClips>14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LAMBDA -&gt; JavaScript Compiler with Closure Conversion</dc:title>
  <dc:subject>PptxGenJS Presentation</dc:subject>
  <dc:creator>CS525 Student</dc:creator>
  <cp:lastModifiedBy>Lim, Youngsun</cp:lastModifiedBy>
  <cp:revision>20</cp:revision>
  <dcterms:created xsi:type="dcterms:W3CDTF">2026-05-04T18:26:59Z</dcterms:created>
  <dcterms:modified xsi:type="dcterms:W3CDTF">2026-05-04T21:18:06Z</dcterms:modified>
</cp:coreProperties>
</file>